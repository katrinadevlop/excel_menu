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3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8B37"/>
    <a:srgbClr val="299D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20" autoAdjust="0"/>
  </p:normalViewPr>
  <p:slideViewPr>
    <p:cSldViewPr snapToGrid="0">
      <p:cViewPr varScale="1">
        <p:scale>
          <a:sx n="109" d="100"/>
          <a:sy n="109" d="100"/>
        </p:scale>
        <p:origin x="174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04.09.2025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0245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 advClick="0" advTm="10500">
        <p:wipe/>
      </p:transition>
    </mc:Choice>
    <mc:Fallback xmlns="">
      <p:transition advClick="0" advTm="10500">
        <p:wip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04.09.2025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8079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 advClick="0" advTm="10500">
        <p:wipe/>
      </p:transition>
    </mc:Choice>
    <mc:Fallback xmlns="">
      <p:transition advClick="0" advTm="10500">
        <p:wip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04.09.2025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2730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 advClick="0" advTm="10500">
        <p:wipe/>
      </p:transition>
    </mc:Choice>
    <mc:Fallback xmlns="">
      <p:transition advClick="0" advTm="10500">
        <p:wip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04.09.2025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3551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 advClick="0" advTm="10500">
        <p:wipe/>
      </p:transition>
    </mc:Choice>
    <mc:Fallback xmlns="">
      <p:transition advClick="0" advTm="10500">
        <p:wip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04.09.2025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4882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 advClick="0" advTm="10500">
        <p:wipe/>
      </p:transition>
    </mc:Choice>
    <mc:Fallback xmlns="">
      <p:transition advClick="0" advTm="10500">
        <p:wip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04.09.2025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2556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 advClick="0" advTm="10500">
        <p:wipe/>
      </p:transition>
    </mc:Choice>
    <mc:Fallback xmlns="">
      <p:transition advClick="0" advTm="10500">
        <p:wip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04.09.2025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9620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 advClick="0" advTm="10500">
        <p:wipe/>
      </p:transition>
    </mc:Choice>
    <mc:Fallback xmlns="">
      <p:transition advClick="0" advTm="10500">
        <p:wip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04.09.2025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17249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 advClick="0" advTm="10500">
        <p:wipe/>
      </p:transition>
    </mc:Choice>
    <mc:Fallback xmlns="">
      <p:transition advClick="0" advTm="10500">
        <p:wip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04.09.2025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56941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 advClick="0" advTm="10500">
        <p:wipe/>
      </p:transition>
    </mc:Choice>
    <mc:Fallback xmlns="">
      <p:transition advClick="0" advTm="10500">
        <p:wip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04.09.2025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58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 advClick="0" advTm="10500">
        <p:wipe/>
      </p:transition>
    </mc:Choice>
    <mc:Fallback xmlns="">
      <p:transition advClick="0" advTm="10500">
        <p:wip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04.09.2025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0393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 advClick="0" advTm="10500">
        <p:wipe/>
      </p:transition>
    </mc:Choice>
    <mc:Fallback xmlns="">
      <p:transition advClick="0" advTm="10500">
        <p:wip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02C93F-F68F-466C-B6A1-9C22EDD85320}" type="datetimeFigureOut">
              <a:rPr lang="ru-RU" smtClean="0"/>
              <a:t>04.09.2025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45669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p14:dur="100" advClick="0" advTm="10500">
        <p:wipe/>
      </p:transition>
    </mc:Choice>
    <mc:Fallback xmlns="">
      <p:transition advClick="0" advTm="10500">
        <p:wip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12C044-69EE-B741-2E5F-644B9F623F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7000" y="3732200"/>
            <a:ext cx="9753599" cy="981497"/>
          </a:xfrm>
        </p:spPr>
        <p:txBody>
          <a:bodyPr>
            <a:normAutofit fontScale="90000"/>
          </a:bodyPr>
          <a:lstStyle/>
          <a:p>
            <a:r>
              <a:rPr lang="ru-RU" sz="7100" dirty="0">
                <a:solidFill>
                  <a:srgbClr val="218B37"/>
                </a:solidFill>
                <a:latin typeface="Gilroy Medium" panose="00000600000000000000" pitchFamily="2" charset="-52"/>
              </a:rPr>
              <a:t>столовая         пельмени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F62D0C5-DF89-C4F0-3830-200503E481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827881"/>
          </a:xfrm>
        </p:spPr>
        <p:txBody>
          <a:bodyPr/>
          <a:lstStyle/>
          <a:p>
            <a:r>
              <a:rPr lang="ru-RU" dirty="0"/>
              <a:t>   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27D7091-B52A-27EF-33C7-204CB25DCF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6343" y="1050811"/>
            <a:ext cx="10234311" cy="3925989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A424471-556F-C732-35D6-05540DA12C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1288" y="4604801"/>
            <a:ext cx="1992312" cy="214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951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 advClick="0" advTm="10500">
        <p:wipe/>
      </p:transition>
    </mc:Choice>
    <mc:Fallback xmlns="">
      <p:transition advClick="0" advTm="10500">
        <p:wip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97A06A-345A-4E08-B89D-8A9301370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2509" y="4100816"/>
            <a:ext cx="3360333" cy="2504661"/>
          </a:xfrm>
        </p:spPr>
        <p:txBody>
          <a:bodyPr anchor="b">
            <a:normAutofit/>
          </a:bodyPr>
          <a:lstStyle/>
          <a:p>
            <a:r>
              <a:rPr lang="ru-RU" dirty="0">
                <a:solidFill>
                  <a:srgbClr val="00B050"/>
                </a:solidFill>
                <a:latin typeface="Gilroy Medium" panose="00000600000000000000" pitchFamily="2" charset="-52"/>
              </a:rPr>
              <a:t>САЛАТЫ И ХОЛОДНЫЕ ЗАКУСКИ</a:t>
            </a:r>
          </a:p>
        </p:txBody>
      </p:sp>
      <p:graphicFrame>
        <p:nvGraphicFramePr>
          <p:cNvPr id="7" name="Объект 3">
            <a:extLst>
              <a:ext uri="{FF2B5EF4-FFF2-40B4-BE49-F238E27FC236}">
                <a16:creationId xmlns:a16="http://schemas.microsoft.com/office/drawing/2014/main" id="{B3F782F7-7795-47EB-850E-63280978961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58060590"/>
              </p:ext>
            </p:extLst>
          </p:nvPr>
        </p:nvGraphicFramePr>
        <p:xfrm>
          <a:off x="3431263" y="0"/>
          <a:ext cx="8745648" cy="7269035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5493017">
                  <a:extLst>
                    <a:ext uri="{9D8B030D-6E8A-4147-A177-3AD203B41FA5}">
                      <a16:colId xmlns:a16="http://schemas.microsoft.com/office/drawing/2014/main" val="3204575830"/>
                    </a:ext>
                  </a:extLst>
                </a:gridCol>
                <a:gridCol w="1767863">
                  <a:extLst>
                    <a:ext uri="{9D8B030D-6E8A-4147-A177-3AD203B41FA5}">
                      <a16:colId xmlns:a16="http://schemas.microsoft.com/office/drawing/2014/main" val="1718803145"/>
                    </a:ext>
                  </a:extLst>
                </a:gridCol>
                <a:gridCol w="1484768">
                  <a:extLst>
                    <a:ext uri="{9D8B030D-6E8A-4147-A177-3AD203B41FA5}">
                      <a16:colId xmlns:a16="http://schemas.microsoft.com/office/drawing/2014/main" val="1870086191"/>
                    </a:ext>
                  </a:extLst>
                </a:gridCol>
              </a:tblGrid>
              <a:tr h="461727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ВЕС В ГРАММАХ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ЦЕНА </a:t>
                      </a:r>
                      <a:r>
                        <a:rPr lang="en-US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, </a:t>
                      </a: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руб.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218451"/>
                  </a:ext>
                </a:extLst>
              </a:tr>
              <a:tr h="306817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Греческий салат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175г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250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175751"/>
                  </a:ext>
                </a:extLst>
              </a:tr>
              <a:tr h="332299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Жозефина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100г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110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998982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Капуста с перцем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100г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70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890114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Коулслоу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100г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75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9472077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Куропатка салат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100г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115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7157211"/>
                  </a:ext>
                </a:extLst>
              </a:tr>
              <a:tr h="507123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Мясной салат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100г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130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2897723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Помидоры с базиликовой заправкой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100г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90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9395298"/>
                  </a:ext>
                </a:extLst>
              </a:tr>
              <a:tr h="372688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Редис с огурцом и растительным маслом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100г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90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288306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Салат Баклажаны и сыр фета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100г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125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7146046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Салат с сайрой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100г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110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472174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Свекла с яблоком и арахисом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100г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80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650590"/>
                  </a:ext>
                </a:extLst>
              </a:tr>
              <a:tr h="495285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Цезарь с курицей/с креветками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200/200г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275/385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5870430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Греческий салат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175г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250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8555329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5917079"/>
                  </a:ext>
                </a:extLst>
              </a:tr>
            </a:tbl>
          </a:graphicData>
        </a:graphic>
      </p:graphicFrame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4FF3ACB-47E1-E399-9616-78A6E79A9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6401" y="408797"/>
            <a:ext cx="3435454" cy="1317876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C0703A9-1FD9-A952-294E-011CA57AE2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287" y="1865077"/>
            <a:ext cx="1992312" cy="214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240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 advClick="0" advTm="10500">
        <p14:reveal/>
      </p:transition>
    </mc:Choice>
    <mc:Fallback xmlns="">
      <p:transition spd="slow" advClick="0" advTm="1050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97A06A-345A-4E08-B89D-8A9301370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82" y="3260035"/>
            <a:ext cx="3402493" cy="3222021"/>
          </a:xfrm>
        </p:spPr>
        <p:txBody>
          <a:bodyPr anchor="b">
            <a:normAutofit/>
          </a:bodyPr>
          <a:lstStyle/>
          <a:p>
            <a:r>
              <a:rPr lang="ru-RU" sz="5400" dirty="0">
                <a:solidFill>
                  <a:srgbClr val="00B050"/>
                </a:solidFill>
                <a:latin typeface="Gilroy Medium" panose="00000600000000000000" pitchFamily="2" charset="-52"/>
              </a:rPr>
              <a:t>ПЕРВЫЕ БЛЮДА</a:t>
            </a:r>
          </a:p>
        </p:txBody>
      </p:sp>
      <p:graphicFrame>
        <p:nvGraphicFramePr>
          <p:cNvPr id="7" name="Объект 3">
            <a:extLst>
              <a:ext uri="{FF2B5EF4-FFF2-40B4-BE49-F238E27FC236}">
                <a16:creationId xmlns:a16="http://schemas.microsoft.com/office/drawing/2014/main" id="{B3F782F7-7795-47EB-850E-63280978961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9485375"/>
              </p:ext>
            </p:extLst>
          </p:nvPr>
        </p:nvGraphicFramePr>
        <p:xfrm>
          <a:off x="3432170" y="0"/>
          <a:ext cx="8508146" cy="8944346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6053945">
                  <a:extLst>
                    <a:ext uri="{9D8B030D-6E8A-4147-A177-3AD203B41FA5}">
                      <a16:colId xmlns:a16="http://schemas.microsoft.com/office/drawing/2014/main" val="3204575830"/>
                    </a:ext>
                  </a:extLst>
                </a:gridCol>
                <a:gridCol w="1459708">
                  <a:extLst>
                    <a:ext uri="{9D8B030D-6E8A-4147-A177-3AD203B41FA5}">
                      <a16:colId xmlns:a16="http://schemas.microsoft.com/office/drawing/2014/main" val="1718803145"/>
                    </a:ext>
                  </a:extLst>
                </a:gridCol>
                <a:gridCol w="994493">
                  <a:extLst>
                    <a:ext uri="{9D8B030D-6E8A-4147-A177-3AD203B41FA5}">
                      <a16:colId xmlns:a16="http://schemas.microsoft.com/office/drawing/2014/main" val="1870086191"/>
                    </a:ext>
                  </a:extLst>
                </a:gridCol>
              </a:tblGrid>
              <a:tr h="488604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ВЕС В ГРАММАХ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ЦЕНА</a:t>
                      </a:r>
                      <a:r>
                        <a:rPr lang="en-US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, </a:t>
                      </a: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руб.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524050"/>
                  </a:ext>
                </a:extLst>
              </a:tr>
              <a:tr h="732330">
                <a:tc>
                  <a:txBody>
                    <a:bodyPr/>
                    <a:lstStyle/>
                    <a:p>
                      <a:pPr algn="l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Бульон куриный с яйцом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250/20г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110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8806985"/>
                  </a:ext>
                </a:extLst>
              </a:tr>
              <a:tr h="527735">
                <a:tc>
                  <a:txBody>
                    <a:bodyPr/>
                    <a:lstStyle/>
                    <a:p>
                      <a:pPr algn="l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Рыбный суп с картофелем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250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165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7932428"/>
                  </a:ext>
                </a:extLst>
              </a:tr>
              <a:tr h="532475">
                <a:tc>
                  <a:txBody>
                    <a:bodyPr/>
                    <a:lstStyle/>
                    <a:p>
                      <a:pPr algn="l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Солянка домашняя со сметаной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250/15г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150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866708"/>
                  </a:ext>
                </a:extLst>
              </a:tr>
              <a:tr h="635919">
                <a:tc>
                  <a:txBody>
                    <a:bodyPr/>
                    <a:lstStyle/>
                    <a:p>
                      <a:pPr algn="l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Суп-пюре овощной с гренками 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250/10г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150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3675724"/>
                  </a:ext>
                </a:extLst>
              </a:tr>
              <a:tr h="615636">
                <a:tc>
                  <a:txBody>
                    <a:bodyPr/>
                    <a:lstStyle/>
                    <a:p>
                      <a:pPr algn="l" rtl="0" fontAlgn="ctr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6961227"/>
                  </a:ext>
                </a:extLst>
              </a:tr>
              <a:tr h="903071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cap="none" spc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5149453"/>
                  </a:ext>
                </a:extLst>
              </a:tr>
              <a:tr h="868866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cap="none" spc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cap="none" spc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cap="none" spc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1168168"/>
                  </a:ext>
                </a:extLst>
              </a:tr>
              <a:tr h="868866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cap="none" spc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cap="none" spc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cap="none" spc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6458417"/>
                  </a:ext>
                </a:extLst>
              </a:tr>
              <a:tr h="868866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cap="none" spc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cap="none" spc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cap="none" spc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0504977"/>
                  </a:ext>
                </a:extLst>
              </a:tr>
              <a:tr h="868866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cap="none" spc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cap="none" spc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cap="none" spc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218451"/>
                  </a:ext>
                </a:extLst>
              </a:tr>
              <a:tr h="868866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cap="none" spc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175751"/>
                  </a:ext>
                </a:extLst>
              </a:tr>
            </a:tbl>
          </a:graphicData>
        </a:graphic>
      </p:graphicFrame>
      <p:pic>
        <p:nvPicPr>
          <p:cNvPr id="4" name="Объект 3">
            <a:extLst>
              <a:ext uri="{FF2B5EF4-FFF2-40B4-BE49-F238E27FC236}">
                <a16:creationId xmlns:a16="http://schemas.microsoft.com/office/drawing/2014/main" id="{3A66BBF0-26B1-429E-1B6C-D1A7C3A659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3631652" y="6764338"/>
            <a:ext cx="71859" cy="187325"/>
          </a:xfr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CB1499F-6B4E-A803-DF10-A74CB51A2F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977" y="1755355"/>
            <a:ext cx="1992312" cy="2147211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8BB7722-E70E-260C-C8F6-25D4729D3A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84" y="458673"/>
            <a:ext cx="3435454" cy="1317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773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 advClick="0" advTm="10500">
        <p14:reveal/>
      </p:transition>
    </mc:Choice>
    <mc:Fallback xmlns="">
      <p:transition spd="slow" advClick="0" advTm="105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97A06A-345A-4E08-B89D-8A9301370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42445"/>
            <a:ext cx="3232062" cy="1715555"/>
          </a:xfrm>
        </p:spPr>
        <p:txBody>
          <a:bodyPr anchor="b">
            <a:normAutofit/>
          </a:bodyPr>
          <a:lstStyle/>
          <a:p>
            <a:r>
              <a:rPr lang="ru-RU" sz="5400" dirty="0">
                <a:solidFill>
                  <a:srgbClr val="00B050"/>
                </a:solidFill>
                <a:latin typeface="Gilroy Medium" panose="00000600000000000000" pitchFamily="2" charset="-52"/>
              </a:rPr>
              <a:t>МЯСНЫЕ БЛЮДА</a:t>
            </a:r>
          </a:p>
        </p:txBody>
      </p:sp>
      <p:graphicFrame>
        <p:nvGraphicFramePr>
          <p:cNvPr id="7" name="Объект 3">
            <a:extLst>
              <a:ext uri="{FF2B5EF4-FFF2-40B4-BE49-F238E27FC236}">
                <a16:creationId xmlns:a16="http://schemas.microsoft.com/office/drawing/2014/main" id="{B3F782F7-7795-47EB-850E-63280978961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94662046"/>
              </p:ext>
            </p:extLst>
          </p:nvPr>
        </p:nvGraphicFramePr>
        <p:xfrm>
          <a:off x="3413156" y="235152"/>
          <a:ext cx="8105690" cy="8569057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5206188">
                  <a:extLst>
                    <a:ext uri="{9D8B030D-6E8A-4147-A177-3AD203B41FA5}">
                      <a16:colId xmlns:a16="http://schemas.microsoft.com/office/drawing/2014/main" val="3204575830"/>
                    </a:ext>
                  </a:extLst>
                </a:gridCol>
                <a:gridCol w="1843790">
                  <a:extLst>
                    <a:ext uri="{9D8B030D-6E8A-4147-A177-3AD203B41FA5}">
                      <a16:colId xmlns:a16="http://schemas.microsoft.com/office/drawing/2014/main" val="1718803145"/>
                    </a:ext>
                  </a:extLst>
                </a:gridCol>
                <a:gridCol w="1055712">
                  <a:extLst>
                    <a:ext uri="{9D8B030D-6E8A-4147-A177-3AD203B41FA5}">
                      <a16:colId xmlns:a16="http://schemas.microsoft.com/office/drawing/2014/main" val="1870086191"/>
                    </a:ext>
                  </a:extLst>
                </a:gridCol>
              </a:tblGrid>
              <a:tr h="458542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ВЕС В ГРАММАХ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ЦЕНА</a:t>
                      </a:r>
                      <a:r>
                        <a:rPr lang="en-US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, </a:t>
                      </a: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руб.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524050"/>
                  </a:ext>
                </a:extLst>
              </a:tr>
              <a:tr h="597898">
                <a:tc>
                  <a:txBody>
                    <a:bodyPr/>
                    <a:lstStyle/>
                    <a:p>
                      <a:pPr algn="l" fontAlgn="b"/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Азу из говядины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75/75г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325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697844"/>
                  </a:ext>
                </a:extLst>
              </a:tr>
              <a:tr h="426550">
                <a:tc>
                  <a:txBody>
                    <a:bodyPr/>
                    <a:lstStyle/>
                    <a:p>
                      <a:pPr algn="l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Бифштекс рубленый с маринованныи луком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100/20г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290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8806985"/>
                  </a:ext>
                </a:extLst>
              </a:tr>
              <a:tr h="537650">
                <a:tc>
                  <a:txBody>
                    <a:bodyPr/>
                    <a:lstStyle/>
                    <a:p>
                      <a:pPr algn="l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Буженина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100г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275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7932428"/>
                  </a:ext>
                </a:extLst>
              </a:tr>
              <a:tr h="501915">
                <a:tc>
                  <a:txBody>
                    <a:bodyPr/>
                    <a:lstStyle/>
                    <a:p>
                      <a:pPr algn="l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Говядина томленая в вишневом соусе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100/50г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395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866708"/>
                  </a:ext>
                </a:extLst>
              </a:tr>
              <a:tr h="500885">
                <a:tc>
                  <a:txBody>
                    <a:bodyPr/>
                    <a:lstStyle/>
                    <a:p>
                      <a:pPr algn="l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Ежики Домашние в красном соусе 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100/50г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200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7390752"/>
                  </a:ext>
                </a:extLst>
              </a:tr>
              <a:tr h="558343">
                <a:tc>
                  <a:txBody>
                    <a:bodyPr/>
                    <a:lstStyle/>
                    <a:p>
                      <a:pPr algn="l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Котлета жареная курица/свинина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100г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195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3675724"/>
                  </a:ext>
                </a:extLst>
              </a:tr>
              <a:tr h="578920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5149453"/>
                  </a:ext>
                </a:extLst>
              </a:tr>
              <a:tr h="613615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1168168"/>
                  </a:ext>
                </a:extLst>
              </a:tr>
              <a:tr h="604434">
                <a:tc>
                  <a:txBody>
                    <a:bodyPr/>
                    <a:lstStyle/>
                    <a:p>
                      <a:pPr algn="l" fontAlgn="ctr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ru-RU" sz="2800" b="1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6458417"/>
                  </a:ext>
                </a:extLst>
              </a:tr>
              <a:tr h="432192">
                <a:tc>
                  <a:txBody>
                    <a:bodyPr/>
                    <a:lstStyle/>
                    <a:p>
                      <a:pPr algn="l" fontAlgn="b"/>
                      <a:endParaRPr lang="ru-RU" sz="32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3200" b="0" i="0" u="none" strike="noStrike" cap="none" spc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32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0504977"/>
                  </a:ext>
                </a:extLst>
              </a:tr>
              <a:tr h="432192">
                <a:tc>
                  <a:txBody>
                    <a:bodyPr/>
                    <a:lstStyle/>
                    <a:p>
                      <a:pPr algn="l" fontAlgn="b"/>
                      <a:endParaRPr lang="ru-RU" sz="18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218451"/>
                  </a:ext>
                </a:extLst>
              </a:tr>
              <a:tr h="432192">
                <a:tc>
                  <a:txBody>
                    <a:bodyPr/>
                    <a:lstStyle/>
                    <a:p>
                      <a:pPr algn="l" fontAlgn="b"/>
                      <a:endParaRPr lang="ru-RU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18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175751"/>
                  </a:ext>
                </a:extLst>
              </a:tr>
            </a:tbl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9F9F196-EE91-BE5D-C24B-C52E0276CC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62" y="458673"/>
            <a:ext cx="3435454" cy="1317876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DA70DDD-8305-68FB-68DB-BF95A0F600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287" y="1776549"/>
            <a:ext cx="1992312" cy="214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990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 advClick="0" advTm="10500">
        <p14:reveal/>
      </p:transition>
    </mc:Choice>
    <mc:Fallback xmlns="">
      <p:transition spd="slow" advClick="0" advTm="105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97A06A-345A-4E08-B89D-8A9301370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214665"/>
            <a:ext cx="3232062" cy="1715555"/>
          </a:xfrm>
        </p:spPr>
        <p:txBody>
          <a:bodyPr anchor="b">
            <a:normAutofit fontScale="90000"/>
          </a:bodyPr>
          <a:lstStyle/>
          <a:p>
            <a:r>
              <a:rPr lang="ru-RU" sz="5400" dirty="0">
                <a:solidFill>
                  <a:srgbClr val="00B050"/>
                </a:solidFill>
                <a:latin typeface="Gilroy Medium" panose="00000600000000000000" pitchFamily="2" charset="-52"/>
              </a:rPr>
              <a:t>БЛЮДА ИЗ ПТИЦЫ</a:t>
            </a:r>
          </a:p>
        </p:txBody>
      </p:sp>
      <p:graphicFrame>
        <p:nvGraphicFramePr>
          <p:cNvPr id="7" name="Объект 3">
            <a:extLst>
              <a:ext uri="{FF2B5EF4-FFF2-40B4-BE49-F238E27FC236}">
                <a16:creationId xmlns:a16="http://schemas.microsoft.com/office/drawing/2014/main" id="{B3F782F7-7795-47EB-850E-63280978961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77429634"/>
              </p:ext>
            </p:extLst>
          </p:nvPr>
        </p:nvGraphicFramePr>
        <p:xfrm>
          <a:off x="3284376" y="458672"/>
          <a:ext cx="8684104" cy="7454405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5949565">
                  <a:extLst>
                    <a:ext uri="{9D8B030D-6E8A-4147-A177-3AD203B41FA5}">
                      <a16:colId xmlns:a16="http://schemas.microsoft.com/office/drawing/2014/main" val="3204575830"/>
                    </a:ext>
                  </a:extLst>
                </a:gridCol>
                <a:gridCol w="1535659">
                  <a:extLst>
                    <a:ext uri="{9D8B030D-6E8A-4147-A177-3AD203B41FA5}">
                      <a16:colId xmlns:a16="http://schemas.microsoft.com/office/drawing/2014/main" val="1718803145"/>
                    </a:ext>
                  </a:extLst>
                </a:gridCol>
                <a:gridCol w="1198880">
                  <a:extLst>
                    <a:ext uri="{9D8B030D-6E8A-4147-A177-3AD203B41FA5}">
                      <a16:colId xmlns:a16="http://schemas.microsoft.com/office/drawing/2014/main" val="18700861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ВЕС В ГРАММАХ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ЦЕНА</a:t>
                      </a:r>
                      <a:r>
                        <a:rPr lang="en-US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, </a:t>
                      </a: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руб.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524050"/>
                  </a:ext>
                </a:extLst>
              </a:tr>
              <a:tr h="542147">
                <a:tc>
                  <a:txBody>
                    <a:bodyPr/>
                    <a:lstStyle/>
                    <a:p>
                      <a:pPr algn="l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Грудка куриная гриль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100г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215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697844"/>
                  </a:ext>
                </a:extLst>
              </a:tr>
              <a:tr h="524402">
                <a:tc>
                  <a:txBody>
                    <a:bodyPr/>
                    <a:lstStyle/>
                    <a:p>
                      <a:pPr algn="l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Грудка запеченая со шпинатом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100г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215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8806985"/>
                  </a:ext>
                </a:extLst>
              </a:tr>
              <a:tr h="494675">
                <a:tc>
                  <a:txBody>
                    <a:bodyPr/>
                    <a:lstStyle/>
                    <a:p>
                      <a:pPr algn="l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Грудка куриная отварная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100г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215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7932428"/>
                  </a:ext>
                </a:extLst>
              </a:tr>
              <a:tr h="580408">
                <a:tc>
                  <a:txBody>
                    <a:bodyPr/>
                    <a:lstStyle/>
                    <a:p>
                      <a:pPr algn="l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Котлета куриная паровая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100г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195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866708"/>
                  </a:ext>
                </a:extLst>
              </a:tr>
              <a:tr h="542441">
                <a:tc>
                  <a:txBody>
                    <a:bodyPr/>
                    <a:lstStyle/>
                    <a:p>
                      <a:pPr algn="l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Котлета Пожарская в сухарях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110г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205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7390752"/>
                  </a:ext>
                </a:extLst>
              </a:tr>
              <a:tr h="588936">
                <a:tc>
                  <a:txBody>
                    <a:bodyPr/>
                    <a:lstStyle/>
                    <a:p>
                      <a:pPr algn="l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Плов с курицей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250г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240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3675724"/>
                  </a:ext>
                </a:extLst>
              </a:tr>
              <a:tr h="511669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6961227"/>
                  </a:ext>
                </a:extLst>
              </a:tr>
              <a:tr h="542216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5149453"/>
                  </a:ext>
                </a:extLst>
              </a:tr>
              <a:tr h="606877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1168168"/>
                  </a:ext>
                </a:extLst>
              </a:tr>
              <a:tr h="527435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6458417"/>
                  </a:ext>
                </a:extLst>
              </a:tr>
              <a:tr h="446783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>
                        <a:solidFill>
                          <a:schemeClr val="tx1"/>
                        </a:solidFill>
                        <a:effectLst/>
                        <a:latin typeface="Gilroy" panose="000005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000" b="0" i="0" u="none" strike="noStrike">
                        <a:solidFill>
                          <a:schemeClr val="tx1"/>
                        </a:solidFill>
                        <a:effectLst/>
                        <a:latin typeface="Gilroy" panose="000005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" panose="000005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0504977"/>
                  </a:ext>
                </a:extLst>
              </a:tr>
              <a:tr h="446783">
                <a:tc>
                  <a:txBody>
                    <a:bodyPr/>
                    <a:lstStyle/>
                    <a:p>
                      <a:pPr algn="l" fontAlgn="b"/>
                      <a:endParaRPr lang="ru-RU" sz="18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18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218451"/>
                  </a:ext>
                </a:extLst>
              </a:tr>
              <a:tr h="446783">
                <a:tc>
                  <a:txBody>
                    <a:bodyPr/>
                    <a:lstStyle/>
                    <a:p>
                      <a:pPr algn="l" fontAlgn="b"/>
                      <a:endParaRPr lang="ru-RU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18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175751"/>
                  </a:ext>
                </a:extLst>
              </a:tr>
            </a:tbl>
          </a:graphicData>
        </a:graphic>
      </p:graphicFrame>
      <p:sp>
        <p:nvSpPr>
          <p:cNvPr id="4" name="Объект 3">
            <a:extLst>
              <a:ext uri="{FF2B5EF4-FFF2-40B4-BE49-F238E27FC236}">
                <a16:creationId xmlns:a16="http://schemas.microsoft.com/office/drawing/2014/main" id="{BD6A5F6F-B898-4767-8E10-F8DD15F1B0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97854" y="7052717"/>
            <a:ext cx="10515600" cy="4351338"/>
          </a:xfrm>
        </p:spPr>
        <p:txBody>
          <a:bodyPr/>
          <a:lstStyle/>
          <a:p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590FC0-6781-7C1B-ED8F-65750FBBD2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84" y="458673"/>
            <a:ext cx="3097004" cy="1188043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10E83CB-EB2A-7E35-9A1E-A1A937869D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875" y="1900713"/>
            <a:ext cx="1992312" cy="214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6771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 advClick="0" advTm="10500">
        <p14:reveal/>
      </p:transition>
    </mc:Choice>
    <mc:Fallback xmlns="">
      <p:transition spd="slow" advClick="0" advTm="105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97A06A-345A-4E08-B89D-8A9301370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897" y="4889923"/>
            <a:ext cx="3232062" cy="1715555"/>
          </a:xfrm>
        </p:spPr>
        <p:txBody>
          <a:bodyPr anchor="b">
            <a:normAutofit/>
          </a:bodyPr>
          <a:lstStyle/>
          <a:p>
            <a:r>
              <a:rPr lang="ru-RU" sz="5400" dirty="0">
                <a:solidFill>
                  <a:srgbClr val="00B050"/>
                </a:solidFill>
                <a:latin typeface="Gilroy Medium" panose="00000600000000000000" pitchFamily="2" charset="-52"/>
              </a:rPr>
              <a:t>РЫБНЫЕ БЛЮДА</a:t>
            </a:r>
          </a:p>
        </p:txBody>
      </p:sp>
      <p:graphicFrame>
        <p:nvGraphicFramePr>
          <p:cNvPr id="7" name="Объект 3">
            <a:extLst>
              <a:ext uri="{FF2B5EF4-FFF2-40B4-BE49-F238E27FC236}">
                <a16:creationId xmlns:a16="http://schemas.microsoft.com/office/drawing/2014/main" id="{B3F782F7-7795-47EB-850E-63280978961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96968086"/>
              </p:ext>
            </p:extLst>
          </p:nvPr>
        </p:nvGraphicFramePr>
        <p:xfrm>
          <a:off x="3371959" y="410599"/>
          <a:ext cx="8667278" cy="4788675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5593866">
                  <a:extLst>
                    <a:ext uri="{9D8B030D-6E8A-4147-A177-3AD203B41FA5}">
                      <a16:colId xmlns:a16="http://schemas.microsoft.com/office/drawing/2014/main" val="3204575830"/>
                    </a:ext>
                  </a:extLst>
                </a:gridCol>
                <a:gridCol w="1833209">
                  <a:extLst>
                    <a:ext uri="{9D8B030D-6E8A-4147-A177-3AD203B41FA5}">
                      <a16:colId xmlns:a16="http://schemas.microsoft.com/office/drawing/2014/main" val="1718803145"/>
                    </a:ext>
                  </a:extLst>
                </a:gridCol>
                <a:gridCol w="1240203">
                  <a:extLst>
                    <a:ext uri="{9D8B030D-6E8A-4147-A177-3AD203B41FA5}">
                      <a16:colId xmlns:a16="http://schemas.microsoft.com/office/drawing/2014/main" val="1870086191"/>
                    </a:ext>
                  </a:extLst>
                </a:gridCol>
              </a:tblGrid>
              <a:tr h="856886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ВЕС В ГРАММАХ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ЦЕНА</a:t>
                      </a:r>
                      <a:r>
                        <a:rPr lang="en-US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, </a:t>
                      </a: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руб.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524050"/>
                  </a:ext>
                </a:extLst>
              </a:tr>
              <a:tr h="523663">
                <a:tc>
                  <a:txBody>
                    <a:bodyPr/>
                    <a:lstStyle/>
                    <a:p>
                      <a:pPr algn="l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Котлета по-приморски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100г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225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697844"/>
                  </a:ext>
                </a:extLst>
              </a:tr>
              <a:tr h="632537">
                <a:tc>
                  <a:txBody>
                    <a:bodyPr/>
                    <a:lstStyle/>
                    <a:p>
                      <a:pPr algn="l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Пангасиус под маринадом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100г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220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8806985"/>
                  </a:ext>
                </a:extLst>
              </a:tr>
              <a:tr h="527745">
                <a:tc>
                  <a:txBody>
                    <a:bodyPr/>
                    <a:lstStyle/>
                    <a:p>
                      <a:pPr algn="l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Филе форели гриль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100г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500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5149453"/>
                  </a:ext>
                </a:extLst>
              </a:tr>
              <a:tr h="591870">
                <a:tc>
                  <a:txBody>
                    <a:bodyPr/>
                    <a:lstStyle/>
                    <a:p>
                      <a:pPr algn="l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Хек жареный по-домашнему 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вес/100г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230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6458417"/>
                  </a:ext>
                </a:extLst>
              </a:tr>
              <a:tr h="534155">
                <a:tc>
                  <a:txBody>
                    <a:bodyPr/>
                    <a:lstStyle/>
                    <a:p>
                      <a:pPr algn="l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Котлета по-приморски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100г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225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0504977"/>
                  </a:ext>
                </a:extLst>
              </a:tr>
              <a:tr h="545919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218451"/>
                  </a:ext>
                </a:extLst>
              </a:tr>
              <a:tr h="575900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175751"/>
                  </a:ext>
                </a:extLst>
              </a:tr>
            </a:tbl>
          </a:graphicData>
        </a:graphic>
      </p:graphicFrame>
      <p:graphicFrame>
        <p:nvGraphicFramePr>
          <p:cNvPr id="6" name="Объект 5">
            <a:extLst>
              <a:ext uri="{FF2B5EF4-FFF2-40B4-BE49-F238E27FC236}">
                <a16:creationId xmlns:a16="http://schemas.microsoft.com/office/drawing/2014/main" id="{057EE1AD-B2D6-DA36-31AF-858915D2325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2065000" y="7362417"/>
          <a:ext cx="1460500" cy="265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45898">
                  <a:extLst>
                    <a:ext uri="{9D8B030D-6E8A-4147-A177-3AD203B41FA5}">
                      <a16:colId xmlns:a16="http://schemas.microsoft.com/office/drawing/2014/main" val="2883624903"/>
                    </a:ext>
                  </a:extLst>
                </a:gridCol>
                <a:gridCol w="282609">
                  <a:extLst>
                    <a:ext uri="{9D8B030D-6E8A-4147-A177-3AD203B41FA5}">
                      <a16:colId xmlns:a16="http://schemas.microsoft.com/office/drawing/2014/main" val="4121069023"/>
                    </a:ext>
                  </a:extLst>
                </a:gridCol>
                <a:gridCol w="231993">
                  <a:extLst>
                    <a:ext uri="{9D8B030D-6E8A-4147-A177-3AD203B41FA5}">
                      <a16:colId xmlns:a16="http://schemas.microsoft.com/office/drawing/2014/main" val="1198045659"/>
                    </a:ext>
                  </a:extLst>
                </a:gridCol>
              </a:tblGrid>
              <a:tr h="66482">
                <a:tc>
                  <a:txBody>
                    <a:bodyPr/>
                    <a:lstStyle/>
                    <a:p>
                      <a:pPr algn="l" fontAlgn="b"/>
                      <a:r>
                        <a:rPr lang="ru-RU" sz="400" u="none" strike="noStrike">
                          <a:effectLst/>
                        </a:rPr>
                        <a:t>Горбуша на пару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>
                          <a:effectLst/>
                        </a:rPr>
                        <a:t>100г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>
                          <a:effectLst/>
                        </a:rPr>
                        <a:t>295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extLst>
                  <a:ext uri="{0D108BD9-81ED-4DB2-BD59-A6C34878D82A}">
                    <a16:rowId xmlns:a16="http://schemas.microsoft.com/office/drawing/2014/main" val="2137812757"/>
                  </a:ext>
                </a:extLst>
              </a:tr>
              <a:tr h="66482">
                <a:tc>
                  <a:txBody>
                    <a:bodyPr/>
                    <a:lstStyle/>
                    <a:p>
                      <a:pPr algn="l" fontAlgn="b"/>
                      <a:r>
                        <a:rPr lang="ru-RU" sz="400" u="none" strike="noStrike">
                          <a:effectLst/>
                        </a:rPr>
                        <a:t>Котлета из щуки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>
                          <a:effectLst/>
                        </a:rPr>
                        <a:t>100г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>
                          <a:effectLst/>
                        </a:rPr>
                        <a:t>240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extLst>
                  <a:ext uri="{0D108BD9-81ED-4DB2-BD59-A6C34878D82A}">
                    <a16:rowId xmlns:a16="http://schemas.microsoft.com/office/drawing/2014/main" val="3265695771"/>
                  </a:ext>
                </a:extLst>
              </a:tr>
              <a:tr h="66482">
                <a:tc>
                  <a:txBody>
                    <a:bodyPr/>
                    <a:lstStyle/>
                    <a:p>
                      <a:pPr algn="l" fontAlgn="b"/>
                      <a:r>
                        <a:rPr lang="ru-RU" sz="400" u="none" strike="noStrike">
                          <a:effectLst/>
                        </a:rPr>
                        <a:t>Минтай в панировке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>
                          <a:effectLst/>
                        </a:rPr>
                        <a:t>75г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>
                          <a:effectLst/>
                        </a:rPr>
                        <a:t>210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extLst>
                  <a:ext uri="{0D108BD9-81ED-4DB2-BD59-A6C34878D82A}">
                    <a16:rowId xmlns:a16="http://schemas.microsoft.com/office/drawing/2014/main" val="30226198"/>
                  </a:ext>
                </a:extLst>
              </a:tr>
              <a:tr h="66482">
                <a:tc>
                  <a:txBody>
                    <a:bodyPr/>
                    <a:lstStyle/>
                    <a:p>
                      <a:pPr algn="l" fontAlgn="b"/>
                      <a:r>
                        <a:rPr lang="ru-RU" sz="400" u="none" strike="noStrike">
                          <a:effectLst/>
                        </a:rPr>
                        <a:t>Сайда по-Московски</a:t>
                      </a:r>
                      <a:endParaRPr lang="ru-RU" sz="4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>
                          <a:effectLst/>
                        </a:rPr>
                        <a:t>200г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 dirty="0">
                          <a:effectLst/>
                        </a:rPr>
                        <a:t>275</a:t>
                      </a:r>
                      <a:endParaRPr lang="ru-RU" sz="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extLst>
                  <a:ext uri="{0D108BD9-81ED-4DB2-BD59-A6C34878D82A}">
                    <a16:rowId xmlns:a16="http://schemas.microsoft.com/office/drawing/2014/main" val="3259152315"/>
                  </a:ext>
                </a:extLst>
              </a:tr>
            </a:tbl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35FB2C9-EC91-C306-5FAE-8DA0AF4CA3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1" y="247686"/>
            <a:ext cx="3435454" cy="1317876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D3FDE47-CEF6-3434-2D83-9546CE4014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695" y="1776549"/>
            <a:ext cx="1992312" cy="214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826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 advClick="0" advTm="10500">
        <p14:reveal/>
      </p:transition>
    </mc:Choice>
    <mc:Fallback xmlns="">
      <p:transition spd="slow" advClick="0" advTm="105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97A06A-345A-4E08-B89D-8A9301370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897" y="4889923"/>
            <a:ext cx="3232062" cy="1715555"/>
          </a:xfrm>
        </p:spPr>
        <p:txBody>
          <a:bodyPr anchor="b">
            <a:normAutofit/>
          </a:bodyPr>
          <a:lstStyle/>
          <a:p>
            <a:r>
              <a:rPr lang="ru-RU" sz="4800" dirty="0">
                <a:solidFill>
                  <a:srgbClr val="00B050"/>
                </a:solidFill>
                <a:latin typeface="Gilroy Medium" panose="00000600000000000000" pitchFamily="2" charset="-52"/>
              </a:rPr>
              <a:t>ГАРНИРЫ</a:t>
            </a:r>
          </a:p>
        </p:txBody>
      </p:sp>
      <p:graphicFrame>
        <p:nvGraphicFramePr>
          <p:cNvPr id="7" name="Объект 3">
            <a:extLst>
              <a:ext uri="{FF2B5EF4-FFF2-40B4-BE49-F238E27FC236}">
                <a16:creationId xmlns:a16="http://schemas.microsoft.com/office/drawing/2014/main" id="{B3F782F7-7795-47EB-850E-63280978961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6055306"/>
              </p:ext>
            </p:extLst>
          </p:nvPr>
        </p:nvGraphicFramePr>
        <p:xfrm>
          <a:off x="3432171" y="495737"/>
          <a:ext cx="8759829" cy="7723026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6165995">
                  <a:extLst>
                    <a:ext uri="{9D8B030D-6E8A-4147-A177-3AD203B41FA5}">
                      <a16:colId xmlns:a16="http://schemas.microsoft.com/office/drawing/2014/main" val="3204575830"/>
                    </a:ext>
                  </a:extLst>
                </a:gridCol>
                <a:gridCol w="1579506">
                  <a:extLst>
                    <a:ext uri="{9D8B030D-6E8A-4147-A177-3AD203B41FA5}">
                      <a16:colId xmlns:a16="http://schemas.microsoft.com/office/drawing/2014/main" val="1718803145"/>
                    </a:ext>
                  </a:extLst>
                </a:gridCol>
                <a:gridCol w="1014328">
                  <a:extLst>
                    <a:ext uri="{9D8B030D-6E8A-4147-A177-3AD203B41FA5}">
                      <a16:colId xmlns:a16="http://schemas.microsoft.com/office/drawing/2014/main" val="1870086191"/>
                    </a:ext>
                  </a:extLst>
                </a:gridCol>
              </a:tblGrid>
              <a:tr h="1052886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ВЕС В ГРАММАХ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ЦЕНА</a:t>
                      </a:r>
                      <a:r>
                        <a:rPr lang="en-US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, </a:t>
                      </a: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руб.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524050"/>
                  </a:ext>
                </a:extLst>
              </a:tr>
              <a:tr h="584481">
                <a:tc>
                  <a:txBody>
                    <a:bodyPr/>
                    <a:lstStyle/>
                    <a:p>
                      <a:pPr algn="l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Гречка отварная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150г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65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697844"/>
                  </a:ext>
                </a:extLst>
              </a:tr>
              <a:tr h="396214">
                <a:tc>
                  <a:txBody>
                    <a:bodyPr/>
                    <a:lstStyle/>
                    <a:p>
                      <a:pPr algn="l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Баклажаны с томатами гриль и песто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150г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140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8806985"/>
                  </a:ext>
                </a:extLst>
              </a:tr>
              <a:tr h="396214">
                <a:tc>
                  <a:txBody>
                    <a:bodyPr/>
                    <a:lstStyle/>
                    <a:p>
                      <a:pPr algn="l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Картофель отварной с зеленью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200г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120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7932428"/>
                  </a:ext>
                </a:extLst>
              </a:tr>
              <a:tr h="370946">
                <a:tc>
                  <a:txBody>
                    <a:bodyPr/>
                    <a:lstStyle/>
                    <a:p>
                      <a:pPr algn="l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Картофель по-деревенски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150г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120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866708"/>
                  </a:ext>
                </a:extLst>
              </a:tr>
              <a:tr h="404609">
                <a:tc>
                  <a:txBody>
                    <a:bodyPr/>
                    <a:lstStyle/>
                    <a:p>
                      <a:pPr algn="l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Кукуруза с фасолью и болгарским перцем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150г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150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7390752"/>
                  </a:ext>
                </a:extLst>
              </a:tr>
              <a:tr h="433404">
                <a:tc>
                  <a:txBody>
                    <a:bodyPr/>
                    <a:lstStyle/>
                    <a:p>
                      <a:pPr algn="l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Кускус с грибами,луком и морковью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150г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110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3675724"/>
                  </a:ext>
                </a:extLst>
              </a:tr>
              <a:tr h="397003">
                <a:tc>
                  <a:txBody>
                    <a:bodyPr/>
                    <a:lstStyle/>
                    <a:p>
                      <a:pPr algn="l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Макароны отварные 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150г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70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6961227"/>
                  </a:ext>
                </a:extLst>
              </a:tr>
              <a:tr h="365735">
                <a:tc>
                  <a:txBody>
                    <a:bodyPr/>
                    <a:lstStyle/>
                    <a:p>
                      <a:pPr algn="l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Рис отварной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150г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70</a:t>
                      </a: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5149453"/>
                  </a:ext>
                </a:extLst>
              </a:tr>
              <a:tr h="539607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1168168"/>
                  </a:ext>
                </a:extLst>
              </a:tr>
              <a:tr h="329549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6458417"/>
                  </a:ext>
                </a:extLst>
              </a:tr>
              <a:tr h="400884">
                <a:tc>
                  <a:txBody>
                    <a:bodyPr/>
                    <a:lstStyle/>
                    <a:p>
                      <a:pPr algn="l" fontAlgn="b"/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14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14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0504977"/>
                  </a:ext>
                </a:extLst>
              </a:tr>
              <a:tr h="400884">
                <a:tc>
                  <a:txBody>
                    <a:bodyPr/>
                    <a:lstStyle/>
                    <a:p>
                      <a:pPr algn="l" fontAlgn="b"/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14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14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218451"/>
                  </a:ext>
                </a:extLst>
              </a:tr>
              <a:tr h="400884">
                <a:tc>
                  <a:txBody>
                    <a:bodyPr/>
                    <a:lstStyle/>
                    <a:p>
                      <a:pPr algn="l" fontAlgn="b"/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14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14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175751"/>
                  </a:ext>
                </a:extLst>
              </a:tr>
            </a:tbl>
          </a:graphicData>
        </a:graphic>
      </p:graphicFrame>
      <p:sp>
        <p:nvSpPr>
          <p:cNvPr id="4" name="Объект 3">
            <a:extLst>
              <a:ext uri="{FF2B5EF4-FFF2-40B4-BE49-F238E27FC236}">
                <a16:creationId xmlns:a16="http://schemas.microsoft.com/office/drawing/2014/main" id="{E264CCA2-1718-42AF-A58A-F58760E74E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01600" y="7903028"/>
            <a:ext cx="8037394" cy="2945325"/>
          </a:xfrm>
        </p:spPr>
        <p:txBody>
          <a:bodyPr/>
          <a:lstStyle/>
          <a:p>
            <a:pPr lvl="1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37F8605-4B25-1433-0E24-7FA44B16C9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84" y="458673"/>
            <a:ext cx="3435454" cy="1317876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78CF3B5-AB3D-9DA0-7B40-6EFAFCD5AD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019" y="2135921"/>
            <a:ext cx="1992312" cy="214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173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 advClick="0" advTm="10500">
        <p14:reveal/>
      </p:transition>
    </mc:Choice>
    <mc:Fallback xmlns="">
      <p:transition spd="slow" advClick="0" advTm="105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31964</TotalTime>
  <Words>311</Words>
  <Application>Microsoft Office PowerPoint</Application>
  <PresentationFormat>Широкоэкранный</PresentationFormat>
  <Paragraphs>159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Gilroy</vt:lpstr>
      <vt:lpstr>Gilroy Medium</vt:lpstr>
      <vt:lpstr>Office Theme</vt:lpstr>
      <vt:lpstr>столовая         пельмени</vt:lpstr>
      <vt:lpstr>САЛАТЫ И ХОЛОДНЫЕ ЗАКУСКИ</vt:lpstr>
      <vt:lpstr>ПЕРВЫЕ БЛЮДА</vt:lpstr>
      <vt:lpstr>МЯСНЫЕ БЛЮДА</vt:lpstr>
      <vt:lpstr>БЛЮДА ИЗ ПТИЦЫ</vt:lpstr>
      <vt:lpstr>РЫБНЫЕ БЛЮДА</vt:lpstr>
      <vt:lpstr>ГАРНИРЫ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САЛАТЫ И ХОЛОДНЫЕ ЗАКУСКИ</dc:title>
  <dc:creator>Директор</dc:creator>
  <cp:lastModifiedBy>Director</cp:lastModifiedBy>
  <cp:revision>327</cp:revision>
  <dcterms:created xsi:type="dcterms:W3CDTF">2020-02-07T07:33:48Z</dcterms:created>
  <dcterms:modified xsi:type="dcterms:W3CDTF">2025-09-04T13:43:04Z</dcterms:modified>
</cp:coreProperties>
</file>