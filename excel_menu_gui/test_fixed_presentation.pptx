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B37"/>
    <a:srgbClr val="299D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83" autoAdjust="0"/>
    <p:restoredTop sz="94620" autoAdjust="0"/>
  </p:normalViewPr>
  <p:slideViewPr>
    <p:cSldViewPr snapToGrid="0">
      <p:cViewPr varScale="1">
        <p:scale>
          <a:sx n="104" d="100"/>
          <a:sy n="104" d="100"/>
        </p:scale>
        <p:origin x="36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24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07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730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55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88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55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62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72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69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3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2C93F-F68F-466C-B6A1-9C22EDD85320}" type="datetimeFigureOut">
              <a:rPr lang="ru-RU" smtClean="0"/>
              <a:t>17.09.2025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C14FC-BF7F-4784-A413-12D4FE8E6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566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2C044-69EE-B741-2E5F-644B9F623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1241" y="3332386"/>
            <a:ext cx="9753599" cy="981497"/>
          </a:xfrm>
        </p:spPr>
        <p:txBody>
          <a:bodyPr>
            <a:normAutofit fontScale="90000"/>
          </a:bodyPr>
          <a:lstStyle/>
          <a:p>
            <a:r>
              <a:rPr lang="ru-RU" sz="7100" dirty="0">
                <a:solidFill>
                  <a:srgbClr val="218B37"/>
                </a:solidFill>
                <a:latin typeface="Gilroy Medium" panose="00000600000000000000" pitchFamily="2" charset="-52"/>
              </a:rPr>
              <a:t>  столовая       пельмени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62D0C5-DF89-C4F0-3830-200503E48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27881"/>
          </a:xfrm>
        </p:spPr>
        <p:txBody>
          <a:bodyPr/>
          <a:lstStyle/>
          <a:p>
            <a:r>
              <a:rPr lang="ru-RU" dirty="0"/>
              <a:t>  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7D7091-B52A-27EF-33C7-204CB25DC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44" y="1117697"/>
            <a:ext cx="10234311" cy="34719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424471-556F-C732-35D6-05540DA12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885" y="4483881"/>
            <a:ext cx="1992312" cy="214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5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4FF3ACB-47E1-E399-9616-78A6E79A9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0703A9-1FD9-A952-294E-011CA57AE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CE9236B3-32EC-0E08-7D71-196D60C26E38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САЛАТЫ И ХОЛОДНЫЕ ЗАКУСКИ</a:t>
            </a:r>
          </a:p>
        </p:txBody>
      </p:sp>
      <p:graphicFrame>
        <p:nvGraphicFramePr>
          <p:cNvPr id="14" name="Объект 3">
            <a:extLst>
              <a:ext uri="{FF2B5EF4-FFF2-40B4-BE49-F238E27FC236}">
                <a16:creationId xmlns:a16="http://schemas.microsoft.com/office/drawing/2014/main" id="{685CBBEB-B8FB-1CF2-BCAF-8A2801267D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6096217"/>
              </p:ext>
            </p:extLst>
          </p:nvPr>
        </p:nvGraphicFramePr>
        <p:xfrm>
          <a:off x="3431263" y="0"/>
          <a:ext cx="8745648" cy="762527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Греческий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175г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250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Грузинский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85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Жозефина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110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Капуста по-сычуаньски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75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Капуста с редисом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75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Мини Греческий с фетой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140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Морской салат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130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Редька с морковью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80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Салат Сказка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Салат Ташкент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120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Сельдь под шубой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125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Фермерский салат с языком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230г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325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Цезарь с курицей/с креветками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200/200г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275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24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3A66BBF0-26B1-429E-1B6C-D1A7C3A65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631652" y="6764338"/>
            <a:ext cx="71859" cy="187325"/>
          </a:xfr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3D3F5F2-7CB7-4E50-97D2-29F4F499498F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ПЕРВЫЕ БЛЮДА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D55E15E-F22D-7F06-1DBF-A87932086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9CF79A-63A4-2408-9C36-8B27CDB99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3" name="Объект 3">
            <a:extLst>
              <a:ext uri="{FF2B5EF4-FFF2-40B4-BE49-F238E27FC236}">
                <a16:creationId xmlns:a16="http://schemas.microsoft.com/office/drawing/2014/main" id="{4471887E-0D37-EA0B-493B-A4BFD018A6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8661311"/>
              </p:ext>
            </p:extLst>
          </p:nvPr>
        </p:nvGraphicFramePr>
        <p:xfrm>
          <a:off x="3431263" y="0"/>
          <a:ext cx="8745648" cy="726268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Бульон куриный с яйцом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250/20г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110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Суп Гуляш с говядиной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160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Суп-пюре овощной с гренками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250/10г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150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Финский рыбный суп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195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7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C87B7A0-3534-9B82-C9C4-1945C9E9877C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МЯСНЫЕ БЛЮДА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D1B3580-8758-3CEC-698C-CFB20284C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D9C2B06-F79B-3D1F-F957-CB0B5998B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1" name="Объект 3">
            <a:extLst>
              <a:ext uri="{FF2B5EF4-FFF2-40B4-BE49-F238E27FC236}">
                <a16:creationId xmlns:a16="http://schemas.microsoft.com/office/drawing/2014/main" id="{8A658BD0-B463-969D-3030-11BDD5BA86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4496496"/>
              </p:ext>
            </p:extLst>
          </p:nvPr>
        </p:nvGraphicFramePr>
        <p:xfrm>
          <a:off x="3431263" y="0"/>
          <a:ext cx="8745648" cy="800730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58357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Бифштекс с сыром и шпинатом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100/30г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290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Буженина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275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Говядина отварная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390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Паприкаш из свинины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75/75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275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Перцы фаршированные мясные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220/50г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295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Шницель свиной рубленный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205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9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AC21ECA-721D-76D3-3229-3D59CEAA2603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БЛЮДА ИЗ ПТИЦЫ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FA51BB9-BD5E-08A1-7373-537C17AFC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EA81DB4-592D-57B1-8CEA-A424168CA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2" name="Объект 3">
            <a:extLst>
              <a:ext uri="{FF2B5EF4-FFF2-40B4-BE49-F238E27FC236}">
                <a16:creationId xmlns:a16="http://schemas.microsoft.com/office/drawing/2014/main" id="{52675DFA-3277-E250-5E63-F722891BDF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9281654"/>
              </p:ext>
            </p:extLst>
          </p:nvPr>
        </p:nvGraphicFramePr>
        <p:xfrm>
          <a:off x="3431263" y="0"/>
          <a:ext cx="8745648" cy="719912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Грудка куриная гриль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215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Грудка куриная отварная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215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Грудка куриная с кабачком и морковью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215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Котлета куриная паровая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195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Куриная печень жареная с луком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185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Утиная грудка с квашеной капустой, соус клюк.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100/150/30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480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67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057EE1AD-B2D6-DA36-31AF-858915D232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065000" y="7362417"/>
          <a:ext cx="1460500" cy="265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5898">
                  <a:extLst>
                    <a:ext uri="{9D8B030D-6E8A-4147-A177-3AD203B41FA5}">
                      <a16:colId xmlns:a16="http://schemas.microsoft.com/office/drawing/2014/main" val="2883624903"/>
                    </a:ext>
                  </a:extLst>
                </a:gridCol>
                <a:gridCol w="282609">
                  <a:extLst>
                    <a:ext uri="{9D8B030D-6E8A-4147-A177-3AD203B41FA5}">
                      <a16:colId xmlns:a16="http://schemas.microsoft.com/office/drawing/2014/main" val="4121069023"/>
                    </a:ext>
                  </a:extLst>
                </a:gridCol>
                <a:gridCol w="231993">
                  <a:extLst>
                    <a:ext uri="{9D8B030D-6E8A-4147-A177-3AD203B41FA5}">
                      <a16:colId xmlns:a16="http://schemas.microsoft.com/office/drawing/2014/main" val="1198045659"/>
                    </a:ext>
                  </a:extLst>
                </a:gridCol>
              </a:tblGrid>
              <a:tr h="6648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>
                          <a:effectLst/>
                        </a:rPr>
                        <a:t>Горбуша на пару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100г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295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extLst>
                  <a:ext uri="{0D108BD9-81ED-4DB2-BD59-A6C34878D82A}">
                    <a16:rowId xmlns:a16="http://schemas.microsoft.com/office/drawing/2014/main" val="2137812757"/>
                  </a:ext>
                </a:extLst>
              </a:tr>
              <a:tr h="6648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>
                          <a:effectLst/>
                        </a:rPr>
                        <a:t>Котлета из щуки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100г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240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extLst>
                  <a:ext uri="{0D108BD9-81ED-4DB2-BD59-A6C34878D82A}">
                    <a16:rowId xmlns:a16="http://schemas.microsoft.com/office/drawing/2014/main" val="3265695771"/>
                  </a:ext>
                </a:extLst>
              </a:tr>
              <a:tr h="6648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>
                          <a:effectLst/>
                        </a:rPr>
                        <a:t>Минтай в панировке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75г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210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extLst>
                  <a:ext uri="{0D108BD9-81ED-4DB2-BD59-A6C34878D82A}">
                    <a16:rowId xmlns:a16="http://schemas.microsoft.com/office/drawing/2014/main" val="30226198"/>
                  </a:ext>
                </a:extLst>
              </a:tr>
              <a:tr h="6648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" u="none" strike="noStrike">
                          <a:effectLst/>
                        </a:rPr>
                        <a:t>Сайда по-Московски</a:t>
                      </a:r>
                      <a:endParaRPr lang="ru-RU" sz="4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>
                          <a:effectLst/>
                        </a:rPr>
                        <a:t>200г</a:t>
                      </a:r>
                      <a:endParaRPr lang="ru-RU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" u="none" strike="noStrike" dirty="0">
                          <a:effectLst/>
                        </a:rPr>
                        <a:t>275</a:t>
                      </a:r>
                      <a:endParaRPr lang="ru-RU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66" marR="3166" marT="3166" marB="0" anchor="b"/>
                </a:tc>
                <a:extLst>
                  <a:ext uri="{0D108BD9-81ED-4DB2-BD59-A6C34878D82A}">
                    <a16:rowId xmlns:a16="http://schemas.microsoft.com/office/drawing/2014/main" val="3259152315"/>
                  </a:ext>
                </a:extLst>
              </a:tr>
            </a:tbl>
          </a:graphicData>
        </a:graphic>
      </p:graphicFrame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F77450B-95C5-7C94-3A82-5A1C38F37175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РЫБНЫЕ БЛЮДА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811EF28-3F41-5BA2-6DCF-B375F0C67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8CB372-ED01-57FA-2AB8-88DFD8386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2" name="Объект 3">
            <a:extLst>
              <a:ext uri="{FF2B5EF4-FFF2-40B4-BE49-F238E27FC236}">
                <a16:creationId xmlns:a16="http://schemas.microsoft.com/office/drawing/2014/main" id="{033CD047-BEF6-E972-FB7A-988451C1A9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0614599"/>
              </p:ext>
            </p:extLst>
          </p:nvPr>
        </p:nvGraphicFramePr>
        <p:xfrm>
          <a:off x="3431263" y="0"/>
          <a:ext cx="8745648" cy="543986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Биточки рыбные паровые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240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Минтай под маринадом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225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Окунь жареный (тушка)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вес/100г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260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Филе форели на пару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100г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500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82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A6BE6E7-3D7C-EEB4-FC0E-69312FF74EBF}"/>
              </a:ext>
            </a:extLst>
          </p:cNvPr>
          <p:cNvSpPr txBox="1">
            <a:spLocks/>
          </p:cNvSpPr>
          <p:nvPr/>
        </p:nvSpPr>
        <p:spPr>
          <a:xfrm>
            <a:off x="0" y="3260035"/>
            <a:ext cx="3601275" cy="32220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400" dirty="0">
                <a:solidFill>
                  <a:srgbClr val="00B050"/>
                </a:solidFill>
                <a:latin typeface="Gilroy Medium" panose="00000600000000000000" pitchFamily="2" charset="-52"/>
              </a:rPr>
              <a:t>ГАРНИРЫ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9C0432F-7864-4B08-7CD2-A8A6A8E7E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401" y="408797"/>
            <a:ext cx="3435454" cy="13178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DFEC5A-CC33-170B-E245-A23CDC702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7" y="1668227"/>
            <a:ext cx="1992312" cy="2147211"/>
          </a:xfrm>
          <a:prstGeom prst="rect">
            <a:avLst/>
          </a:prstGeom>
        </p:spPr>
      </p:pic>
      <p:graphicFrame>
        <p:nvGraphicFramePr>
          <p:cNvPr id="12" name="Объект 3">
            <a:extLst>
              <a:ext uri="{FF2B5EF4-FFF2-40B4-BE49-F238E27FC236}">
                <a16:creationId xmlns:a16="http://schemas.microsoft.com/office/drawing/2014/main" id="{EE824AA6-BA84-2F38-B43F-799E88BBFB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5291564"/>
              </p:ext>
            </p:extLst>
          </p:nvPr>
        </p:nvGraphicFramePr>
        <p:xfrm>
          <a:off x="3431263" y="0"/>
          <a:ext cx="8745648" cy="842034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93017">
                  <a:extLst>
                    <a:ext uri="{9D8B030D-6E8A-4147-A177-3AD203B41FA5}">
                      <a16:colId xmlns:a16="http://schemas.microsoft.com/office/drawing/2014/main" val="3204575830"/>
                    </a:ext>
                  </a:extLst>
                </a:gridCol>
                <a:gridCol w="1767863">
                  <a:extLst>
                    <a:ext uri="{9D8B030D-6E8A-4147-A177-3AD203B41FA5}">
                      <a16:colId xmlns:a16="http://schemas.microsoft.com/office/drawing/2014/main" val="1718803145"/>
                    </a:ext>
                  </a:extLst>
                </a:gridCol>
                <a:gridCol w="1484768">
                  <a:extLst>
                    <a:ext uri="{9D8B030D-6E8A-4147-A177-3AD203B41FA5}">
                      <a16:colId xmlns:a16="http://schemas.microsoft.com/office/drawing/2014/main" val="1870086191"/>
                    </a:ext>
                  </a:extLst>
                </a:gridCol>
              </a:tblGrid>
              <a:tr h="461727">
                <a:tc>
                  <a:txBody>
                    <a:bodyPr/>
                    <a:lstStyle/>
                    <a:p>
                      <a:pPr algn="l" fontAlgn="b"/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ВЕС В ГРАММАХ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ЦЕНА </a:t>
                      </a:r>
                      <a:r>
                        <a:rPr lang="en-US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, </a:t>
                      </a:r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руб.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  <a:p>
                      <a:pPr algn="ctr" fontAlgn="b"/>
                      <a:r>
                        <a:rPr lang="ru-RU" sz="1600" b="0" u="none" strike="noStrike" cap="all" spc="150" dirty="0">
                          <a:solidFill>
                            <a:schemeClr val="tx1"/>
                          </a:solidFill>
                          <a:effectLst/>
                          <a:latin typeface="Gilroy Medium" panose="00000600000000000000" pitchFamily="2" charset="-52"/>
                        </a:rPr>
                        <a:t> </a:t>
                      </a:r>
                      <a:endParaRPr lang="ru-RU" sz="1600" b="0" i="0" u="none" strike="noStrike" cap="all" spc="150" dirty="0">
                        <a:solidFill>
                          <a:schemeClr val="tx1"/>
                        </a:solidFill>
                        <a:effectLst/>
                        <a:latin typeface="Gilroy Medium" panose="00000600000000000000" pitchFamily="2" charset="-52"/>
                      </a:endParaRPr>
                    </a:p>
                  </a:txBody>
                  <a:tcPr marL="82585" marR="82585" marT="82585" marB="8258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218451"/>
                  </a:ext>
                </a:extLst>
              </a:tr>
              <a:tr h="306817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Баклажаны по-грузински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220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75751"/>
                  </a:ext>
                </a:extLst>
              </a:tr>
              <a:tr h="332299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Гречка отварная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65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8982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Картофель с грибами жареный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155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01145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Картофельное пюре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200г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120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472077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Макароны отварные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57211"/>
                  </a:ext>
                </a:extLst>
              </a:tr>
              <a:tr h="507123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Микс цветная/капуста/фасоль/морковь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140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897723"/>
                  </a:ext>
                </a:extLst>
              </a:tr>
              <a:tr h="47833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Перловка с перцем и кукурузой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95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395298"/>
                  </a:ext>
                </a:extLst>
              </a:tr>
              <a:tr h="372688">
                <a:tc>
                  <a:txBody>
                    <a:bodyPr lIns="127000" rIns="127000" tIns="127000" bIns="127000"/>
                    <a:lstStyle/>
                    <a:p>
                      <a:pPr algn="l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Рис отварной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150г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127000" rIns="127000" tIns="127000" bIns="127000"/>
                    <a:lstStyle/>
                    <a:p>
                      <a:pPr algn="ctr"/>
                      <a:r>
                        <a:rPr sz="2800">
                          <a:solidFill>
                            <a:srgbClr val="FFFFFF"/>
                          </a:solidFill>
                          <a:latin typeface="Gilroy Medium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83065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46046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72174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50590"/>
                  </a:ext>
                </a:extLst>
              </a:tr>
              <a:tr h="495285"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870430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55329"/>
                  </a:ext>
                </a:extLst>
              </a:tr>
              <a:tr h="478338"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/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817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500"/>
    </mc:Choice>
    <mc:Fallback xmlns="">
      <p:transition advClick="0" advTm="10500"/>
    </mc:Fallback>
  </mc:AlternateContent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31984</TotalTime>
  <Words>293</Words>
  <Application>Microsoft Office PowerPoint</Application>
  <PresentationFormat>Широкоэкранный</PresentationFormat>
  <Paragraphs>149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Gilroy Medium</vt:lpstr>
      <vt:lpstr>Office Theme</vt:lpstr>
      <vt:lpstr>  столовая       пельмени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САЛАТЫ И ХОЛОДНЫЕ ЗАКУСКИ</dc:title>
  <dc:creator>Директор</dc:creator>
  <cp:lastModifiedBy>Екатерина Колосова</cp:lastModifiedBy>
  <cp:revision>336</cp:revision>
  <dcterms:created xsi:type="dcterms:W3CDTF">2020-02-07T07:33:48Z</dcterms:created>
  <dcterms:modified xsi:type="dcterms:W3CDTF">2025-09-17T18:26:43Z</dcterms:modified>
</cp:coreProperties>
</file>